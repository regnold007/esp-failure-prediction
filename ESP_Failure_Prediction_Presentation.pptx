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2"/>
  </p:notesMasterIdLst>
  <p:sldIdLst>
    <p:sldId id="1013" r:id="rId2"/>
    <p:sldId id="1014" r:id="rId3"/>
    <p:sldId id="1026" r:id="rId4"/>
    <p:sldId id="1016" r:id="rId5"/>
    <p:sldId id="1027" r:id="rId6"/>
    <p:sldId id="1017" r:id="rId7"/>
    <p:sldId id="1025" r:id="rId8"/>
    <p:sldId id="1028" r:id="rId9"/>
    <p:sldId id="1029" r:id="rId10"/>
    <p:sldId id="102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epak Devegowda" initials="DD" lastIdx="4" clrIdx="0">
    <p:extLst>
      <p:ext uri="{19B8F6BF-5375-455C-9EA6-DF929625EA0E}">
        <p15:presenceInfo xmlns:p15="http://schemas.microsoft.com/office/powerpoint/2012/main" userId="e8cc53162ddcffc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64" autoAdjust="0"/>
    <p:restoredTop sz="86731" autoAdjust="0"/>
  </p:normalViewPr>
  <p:slideViewPr>
    <p:cSldViewPr snapToGrid="0">
      <p:cViewPr varScale="1">
        <p:scale>
          <a:sx n="143" d="100"/>
          <a:sy n="143" d="100"/>
        </p:scale>
        <p:origin x="3138" y="144"/>
      </p:cViewPr>
      <p:guideLst/>
    </p:cSldViewPr>
  </p:slideViewPr>
  <p:outlineViewPr>
    <p:cViewPr>
      <p:scale>
        <a:sx n="33" d="100"/>
        <a:sy n="33" d="100"/>
      </p:scale>
      <p:origin x="0" y="-144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5" d="100"/>
          <a:sy n="85" d="100"/>
        </p:scale>
        <p:origin x="388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424326-F128-4148-9F49-46B4B5AF4D0D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F95B9E-A627-430E-8E98-03DE4F4044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57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EA04C-91F4-43C5-806C-0D033F154B09}" type="datetime1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4F879-D1BB-4B4D-8301-0FCCA6BB67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5550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662782"/>
          </a:xfrm>
        </p:spPr>
        <p:txBody>
          <a:bodyPr/>
          <a:lstStyle>
            <a:lvl1pPr>
              <a:defRPr sz="3600" b="1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80902"/>
            <a:ext cx="10515600" cy="519606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4F879-D1BB-4B4D-8301-0FCCA6BB67F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166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4F879-D1BB-4B4D-8301-0FCCA6BB67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18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84FA5-1E41-43C8-82C4-8A970C974B3C}" type="datetime1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4F879-D1BB-4B4D-8301-0FCCA6BB67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177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7A24A-50C9-407C-A3CE-F835278DF6E9}" type="datetime1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4F879-D1BB-4B4D-8301-0FCCA6BB67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9867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34F05-FABD-4058-A9C8-8D13597A5270}" type="datetime1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4F879-D1BB-4B4D-8301-0FCCA6BB67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8070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CD208-A6DB-4872-8D43-C5AC746956D7}" type="datetime1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4F879-D1BB-4B4D-8301-0FCCA6BB67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9735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8F2F3-08F7-4AFD-A1FA-3171D31DBF09}" type="datetime1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4F879-D1BB-4B4D-8301-0FCCA6BB67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639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F4F67-0C41-4010-8F9A-654B72275BD7}" type="datetime1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4F879-D1BB-4B4D-8301-0FCCA6BB67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8277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00E65-A17F-452C-B95C-D36AFB537BEE}" type="datetime1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4F879-D1BB-4B4D-8301-0FCCA6BB67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2092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3D4F7-4875-4F64-90C3-5A366F994EC4}" type="datetime1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4F879-D1BB-4B4D-8301-0FCCA6BB67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640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CACA70-1EAB-48CB-BCCC-8968A514F7A4}" type="datetime1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14F879-D1BB-4B4D-8301-0FCCA6BB67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406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E675F91-6BFB-4EB6-8ED8-22735891DFE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ESP Well Failure Prediction</a:t>
            </a:r>
            <a:b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5E62D48-24E2-4F05-9C25-B7AC63B8C7D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30-Day Early Warning System Using Random Forest</a:t>
            </a:r>
          </a:p>
          <a:p>
            <a:r>
              <a:rPr lang="en-US" dirty="0"/>
              <a:t>Regnold Chinowaita &amp; Diego De la Cruz Torres</a:t>
            </a:r>
          </a:p>
        </p:txBody>
      </p:sp>
    </p:spTree>
    <p:extLst>
      <p:ext uri="{BB962C8B-B14F-4D97-AF65-F5344CB8AC3E}">
        <p14:creationId xmlns:p14="http://schemas.microsoft.com/office/powerpoint/2010/main" val="28307210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284" y="1143000"/>
            <a:ext cx="11258026" cy="5029200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Problem</a:t>
            </a:r>
          </a:p>
          <a:p>
            <a:pPr lvl="1"/>
            <a:r>
              <a:rPr lang="en-US" dirty="0"/>
              <a:t>ESP (Electrical Submersible Pump) failures cause costly unplanned shutdowns in oil wells</a:t>
            </a:r>
          </a:p>
          <a:p>
            <a:pPr lvl="1"/>
            <a:r>
              <a:rPr lang="en-US" dirty="0"/>
              <a:t>Reactive maintenance = expensive downtime + lost production</a:t>
            </a:r>
          </a:p>
          <a:p>
            <a:pPr lvl="1"/>
            <a:r>
              <a:rPr lang="en-US" dirty="0"/>
              <a:t>Harsh downhole environments (sand, heat) reduce ESP life to ~2 years</a:t>
            </a:r>
          </a:p>
          <a:p>
            <a:r>
              <a:rPr lang="en-US" b="1" dirty="0"/>
              <a:t>Goal</a:t>
            </a:r>
          </a:p>
          <a:p>
            <a:pPr lvl="1"/>
            <a:r>
              <a:rPr lang="en-US" dirty="0"/>
              <a:t>Predict ESP failure up to 30 days in advance using sensor and production data</a:t>
            </a:r>
          </a:p>
          <a:p>
            <a:pPr lvl="1"/>
            <a:r>
              <a:rPr lang="en-US" dirty="0"/>
              <a:t>Output: failure probability per well + CRITICAL / HIGH / MEDIUM / LOW risk tier</a:t>
            </a:r>
          </a:p>
          <a:p>
            <a:r>
              <a:rPr lang="en-US" b="1" dirty="0"/>
              <a:t>Why Machine Learning?</a:t>
            </a:r>
          </a:p>
          <a:p>
            <a:pPr lvl="1"/>
            <a:r>
              <a:rPr lang="en-US" dirty="0"/>
              <a:t>Sensor degradation patterns are non-linear and subtle — rule-based systems miss them</a:t>
            </a:r>
          </a:p>
          <a:p>
            <a:pPr lvl="1"/>
            <a:r>
              <a:rPr lang="en-US" dirty="0"/>
              <a:t>Random Forest handles mixed sensor types, missing values, and class imbalance well</a:t>
            </a:r>
          </a:p>
          <a:p>
            <a:r>
              <a:rPr lang="en-US" b="1" dirty="0"/>
              <a:t>Industry Value</a:t>
            </a:r>
          </a:p>
          <a:p>
            <a:pPr lvl="1"/>
            <a:r>
              <a:rPr lang="en-US" dirty="0"/>
              <a:t>Enables scheduled maintenance, reducing downtime and workover costs by millions per well</a:t>
            </a:r>
          </a:p>
          <a:p>
            <a:pPr lvl="1"/>
            <a:r>
              <a:rPr lang="en-US" dirty="0"/>
              <a:t>Provide operators enough time to schedule rigs and order replacement pumps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284" y="1143000"/>
            <a:ext cx="11646716" cy="5696744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Source</a:t>
            </a:r>
          </a:p>
          <a:p>
            <a:pPr lvl="1"/>
            <a:r>
              <a:rPr lang="en-US" dirty="0"/>
              <a:t>E-Challenge competition dataset — historical ESP sensor and production data from deepwater wells Ecuador Section  </a:t>
            </a:r>
          </a:p>
          <a:p>
            <a:r>
              <a:rPr lang="en-US" b="1" dirty="0"/>
              <a:t>Scale</a:t>
            </a:r>
          </a:p>
          <a:p>
            <a:pPr lvl="1"/>
            <a:r>
              <a:rPr lang="en-US" dirty="0"/>
              <a:t>94 labeled training wells + 15 held-out test wells</a:t>
            </a:r>
          </a:p>
          <a:p>
            <a:pPr lvl="1"/>
            <a:r>
              <a:rPr lang="en-US" dirty="0"/>
              <a:t>High-frequency sensor readings (intra-day) + daily production reports</a:t>
            </a:r>
          </a:p>
          <a:p>
            <a:r>
              <a:rPr lang="en-US" b="1" dirty="0"/>
              <a:t>Sensor Inputs (X)</a:t>
            </a:r>
          </a:p>
          <a:p>
            <a:pPr lvl="1"/>
            <a:r>
              <a:rPr lang="en-US" dirty="0"/>
              <a:t>Vibration, Intake Pressure, Motor Temperature, Current, Frequency, BOPD, BFPD</a:t>
            </a:r>
          </a:p>
          <a:p>
            <a:r>
              <a:rPr lang="en-US" b="1" dirty="0"/>
              <a:t>Target (Y)</a:t>
            </a:r>
          </a:p>
          <a:p>
            <a:pPr lvl="1"/>
            <a:r>
              <a:rPr lang="en-US" dirty="0"/>
              <a:t>Binary: will this well fail within the next 30 days? (1 = Yes, 0 = No)</a:t>
            </a:r>
          </a:p>
          <a:p>
            <a:r>
              <a:rPr lang="en-US" b="1" dirty="0"/>
              <a:t>Class Imbalance Challenge</a:t>
            </a:r>
          </a:p>
          <a:p>
            <a:pPr lvl="1"/>
            <a:r>
              <a:rPr lang="en-US" dirty="0"/>
              <a:t>Failures are rare (~0.2% of rows) </a:t>
            </a:r>
          </a:p>
          <a:p>
            <a:pPr lvl="1"/>
            <a:r>
              <a:rPr lang="en-US" b="1" dirty="0"/>
              <a:t>SMOTE (Synthetic Minority Over-sampling Technique)</a:t>
            </a:r>
            <a:r>
              <a:rPr lang="en-US" dirty="0"/>
              <a:t> is a data balancing method used when failures are rare.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Pre-Processing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284" y="1143000"/>
            <a:ext cx="11258026" cy="5029200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Step 1 — Temporal Alignment (structurer)</a:t>
            </a:r>
          </a:p>
          <a:p>
            <a:pPr lvl="1"/>
            <a:r>
              <a:rPr lang="en-US" dirty="0"/>
              <a:t>Sensor data (intra-day) and production data (daily) have different frequencies</a:t>
            </a:r>
          </a:p>
          <a:p>
            <a:pPr lvl="1"/>
            <a:r>
              <a:rPr lang="en-US" dirty="0"/>
              <a:t>Custom structurer function: resamples production to daily cadence, forward-fills gaps, matches each production day to nearest sensor snapshot (±1 day)</a:t>
            </a:r>
          </a:p>
          <a:p>
            <a:r>
              <a:rPr lang="en-US" b="1" dirty="0"/>
              <a:t>Step 2 — Downsampling (frequency_modifier)</a:t>
            </a:r>
          </a:p>
          <a:p>
            <a:pPr lvl="1"/>
            <a:r>
              <a:rPr lang="en-US" dirty="0"/>
              <a:t>Multiple sensor readings per day averaged to one row per well per day</a:t>
            </a:r>
          </a:p>
          <a:p>
            <a:r>
              <a:rPr lang="en-US" b="1" dirty="0"/>
              <a:t>Step 3 — Feature Engineering</a:t>
            </a:r>
          </a:p>
          <a:p>
            <a:pPr lvl="1"/>
            <a:r>
              <a:rPr lang="en-US" dirty="0"/>
              <a:t>Outlier clipping at 1st–99th percentile per well</a:t>
            </a:r>
          </a:p>
          <a:p>
            <a:pPr lvl="1"/>
            <a:r>
              <a:rPr lang="en-US" dirty="0"/>
              <a:t>Imputed missing values with median per well</a:t>
            </a:r>
          </a:p>
          <a:p>
            <a:pPr lvl="1"/>
            <a:r>
              <a:rPr lang="en-US" dirty="0"/>
              <a:t>Ratio features added: BOPD/FREQ*60, BFPD/FREQ*60, PRESS_INT/PRESS_DESC</a:t>
            </a:r>
          </a:p>
          <a:p>
            <a:r>
              <a:rPr lang="en-US" b="1" dirty="0"/>
              <a:t>Step 4 — Label Engineering</a:t>
            </a:r>
          </a:p>
          <a:p>
            <a:pPr lvl="1"/>
            <a:r>
              <a:rPr lang="en-US" dirty="0"/>
              <a:t>7-day pre-failure window flagged as “failure approaching”; 30-day lookahead target created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Sensor Trends Before Failure</a:t>
            </a:r>
          </a:p>
        </p:txBody>
      </p:sp>
      <p:sp>
        <p:nvSpPr>
          <p:cNvPr id="3" name="Subtitle"/>
          <p:cNvSpPr>
            <a:spLocks noGrp="1"/>
          </p:cNvSpPr>
          <p:nvPr>
            <p:ph idx="1"/>
          </p:nvPr>
        </p:nvSpPr>
        <p:spPr>
          <a:xfrm>
            <a:off x="381000" y="586409"/>
            <a:ext cx="11430000" cy="1130596"/>
          </a:xfrm>
        </p:spPr>
        <p:txBody>
          <a:bodyPr>
            <a:normAutofit fontScale="32500" lnSpcReduction="20000"/>
          </a:bodyPr>
          <a:lstStyle/>
          <a:p>
            <a:r>
              <a:rPr lang="en-US" sz="4000" b="1" dirty="0"/>
              <a:t>Vibration:</a:t>
            </a:r>
            <a:r>
              <a:rPr lang="en-US" sz="4000" dirty="0"/>
              <a:t> Rising mechanical wear and bearing friction.</a:t>
            </a:r>
          </a:p>
          <a:p>
            <a:r>
              <a:rPr lang="en-US" sz="4000" b="1" dirty="0"/>
              <a:t>Current:</a:t>
            </a:r>
            <a:r>
              <a:rPr lang="en-US" sz="4000" dirty="0"/>
              <a:t> Sharp increases as the motor struggles with torque load.</a:t>
            </a:r>
          </a:p>
          <a:p>
            <a:r>
              <a:rPr lang="en-US" sz="4000" b="1" dirty="0"/>
              <a:t>Efficiency (BOPD/FREQ*60):</a:t>
            </a:r>
            <a:r>
              <a:rPr lang="en-US" sz="4000" dirty="0"/>
              <a:t> Fluid production drops even at high speeds.</a:t>
            </a:r>
          </a:p>
          <a:p>
            <a:r>
              <a:rPr lang="en-US" sz="4000" b="1" dirty="0"/>
              <a:t>7-Day Window:</a:t>
            </a:r>
            <a:r>
              <a:rPr lang="en-US" sz="4000" dirty="0"/>
              <a:t> A distinct degradation "signature" appears right before a crash</a:t>
            </a:r>
          </a:p>
          <a:p>
            <a:endParaRPr lang="en-US" sz="1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B437DA-51CE-3B0A-BB9B-B9EB0EFA50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0295" y="1717005"/>
            <a:ext cx="7035577" cy="52503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</a:p>
        </p:txBody>
      </p:sp>
      <p:pic>
        <p:nvPicPr>
          <p:cNvPr id="10" name="Pipelin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0000"/>
            <a:ext cx="11430000" cy="1600000"/>
          </a:xfrm>
          <a:prstGeom prst="rect">
            <a:avLst/>
          </a:prstGeom>
        </p:spPr>
      </p:pic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457200" y="2750000"/>
            <a:ext cx="11430000" cy="3450000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Algorithm: Random Forest Classifier</a:t>
            </a:r>
          </a:p>
          <a:p>
            <a:pPr lvl="1"/>
            <a:r>
              <a:rPr lang="en-US" dirty="0"/>
              <a:t>100 trees; max depth tuned via k-fold cross-validation; class_weight=“balanced” applied</a:t>
            </a:r>
          </a:p>
          <a:p>
            <a:r>
              <a:rPr lang="en-US" b="1" dirty="0"/>
              <a:t>Class Imbalance: SMOTE Oversampling</a:t>
            </a:r>
          </a:p>
          <a:p>
            <a:pPr lvl="1"/>
            <a:r>
              <a:rPr lang="en-US" dirty="0"/>
              <a:t>Failures are rare (~0.2%). SMOTE generates synthetic minority samples on the training set only — test set kept untouched</a:t>
            </a:r>
          </a:p>
          <a:p>
            <a:r>
              <a:rPr lang="en-US" b="1" dirty="0"/>
              <a:t>Train/Test Split</a:t>
            </a:r>
          </a:p>
          <a:p>
            <a:pPr lvl="1"/>
            <a:r>
              <a:rPr lang="en-US" dirty="0"/>
              <a:t>94 wells for training, 15 wells completely held out for final evaluation (no data leakage)</a:t>
            </a:r>
          </a:p>
          <a:p>
            <a:r>
              <a:rPr lang="en-US" b="1" dirty="0"/>
              <a:t>Deployment Output</a:t>
            </a:r>
          </a:p>
          <a:p>
            <a:pPr lvl="1"/>
            <a:r>
              <a:rPr lang="en-US" dirty="0"/>
              <a:t>P₀₃₀ = 1 − (1 − Pavg)³⁰ and 5-day rolling alert days → CRITICAL / HIGH / MEDIUM / LOW risk tier per well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— Classification Performance</a:t>
            </a:r>
          </a:p>
        </p:txBody>
      </p:sp>
      <p:sp>
        <p:nvSpPr>
          <p:cNvPr id="3" name="Caption"/>
          <p:cNvSpPr/>
          <p:nvPr/>
        </p:nvSpPr>
        <p:spPr>
          <a:xfrm>
            <a:off x="457200" y="5700000"/>
            <a:ext cx="11430000" cy="550000"/>
          </a:xfrm>
          <a:prstGeom prst="rect">
            <a:avLst/>
          </a:prstGeom>
        </p:spPr>
        <p:txBody>
          <a:bodyPr/>
          <a:lstStyle/>
          <a:p>
            <a:r>
              <a:rPr lang="en-US" sz="1400" dirty="0"/>
              <a:t>Precision (failures): 64% • Recall (failures): 91% • F1: 0.75 • AUC: 0.992 — Model correctly catches 91% of real failures with only 78 false alarms out of 4,014 normal days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30AC98-3569-CD09-44D5-8EF39C7DB2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9710"/>
            <a:ext cx="5010150" cy="35242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23FC9AB-D5D6-EE56-FCB2-011576739B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6564" y="1158001"/>
            <a:ext cx="6565436" cy="433826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— What Drives Failure?</a:t>
            </a:r>
          </a:p>
        </p:txBody>
      </p:sp>
      <p:sp>
        <p:nvSpPr>
          <p:cNvPr id="3" name="Callouts"/>
          <p:cNvSpPr/>
          <p:nvPr/>
        </p:nvSpPr>
        <p:spPr>
          <a:xfrm>
            <a:off x="7657200" y="1200000"/>
            <a:ext cx="4200000" cy="5000000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sz="1600" b="1" dirty="0"/>
              <a:t>Key Takeaways</a:t>
            </a:r>
          </a:p>
          <a:p>
            <a:r>
              <a:rPr lang="en-US" sz="1400" dirty="0"/>
              <a:t>• VIBRATION is the #1 predictor — rising vibration is the earliest failure signal</a:t>
            </a:r>
          </a:p>
          <a:p>
            <a:r>
              <a:rPr lang="en-US" sz="1400" dirty="0"/>
              <a:t>• PRESS_INT and CURRENT together account for 31% of model decisions</a:t>
            </a:r>
          </a:p>
          <a:p>
            <a:r>
              <a:rPr lang="en-US" sz="1400" dirty="0"/>
              <a:t>• BOPD/FREQ ratio captures production efficiency loss before visible symptoms</a:t>
            </a:r>
          </a:p>
          <a:p>
            <a:r>
              <a:rPr lang="en-US" sz="1400" dirty="0"/>
              <a:t>• Bottom 3 features add minimal signal — could be dropped to simplify model</a:t>
            </a:r>
          </a:p>
          <a:p>
            <a:r>
              <a:rPr lang="en-US" sz="1400" b="1" dirty="0"/>
              <a:t>Top 3 features alone explain 52% of model behaviour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F65D2D-C60A-9545-C650-13B1803906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021" y="867678"/>
            <a:ext cx="7109404" cy="581678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— 30-Day Risk Dashboard (Test Wells)</a:t>
            </a:r>
          </a:p>
        </p:txBody>
      </p:sp>
      <p:pic>
        <p:nvPicPr>
          <p:cNvPr id="10" name="RiskDas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0000"/>
            <a:ext cx="11430000" cy="4700000"/>
          </a:xfrm>
          <a:prstGeom prst="rect">
            <a:avLst/>
          </a:prstGeom>
        </p:spPr>
      </p:pic>
      <p:sp>
        <p:nvSpPr>
          <p:cNvPr id="3" name="Caption"/>
          <p:cNvSpPr/>
          <p:nvPr/>
        </p:nvSpPr>
        <p:spPr>
          <a:xfrm>
            <a:off x="457200" y="5820000"/>
            <a:ext cx="11430000" cy="430000"/>
          </a:xfrm>
          <a:prstGeom prst="rect">
            <a:avLst/>
          </a:prstGeom>
        </p:spPr>
        <p:txBody>
          <a:bodyPr/>
          <a:lstStyle/>
          <a:p>
            <a:r>
              <a:rPr lang="en-US" sz="1300" dirty="0"/>
              <a:t>Wells 38, 43, 39, 40, 48, 42, 46, 37, 50 exceed the 50% failure threshold. Only wells 38 and 37 show sustained alert days — most wells hit high probability briefly rather than persistently.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284" y="1143000"/>
            <a:ext cx="11258026" cy="5029200"/>
          </a:xfrm>
        </p:spPr>
        <p:txBody>
          <a:bodyPr>
            <a:normAutofit fontScale="92500"/>
          </a:bodyPr>
          <a:lstStyle/>
          <a:p>
            <a:r>
              <a:rPr lang="en-US" dirty="0"/>
              <a:t>Random Forest achieves AUC = 0.992, detecting 91% of real ESP failures.</a:t>
            </a:r>
          </a:p>
          <a:p>
            <a:r>
              <a:rPr lang="en-US" dirty="0"/>
              <a:t>The model provides reliable 30-day advance warning across 15 unseen test wells.</a:t>
            </a:r>
          </a:p>
          <a:p>
            <a:r>
              <a:rPr lang="en-US" dirty="0"/>
              <a:t>Vibration, intake pressure, and current are the three strongest failure indicators.</a:t>
            </a:r>
          </a:p>
          <a:p>
            <a:r>
              <a:rPr lang="en-US" dirty="0"/>
              <a:t>SMOTE effectively addressed class imbalance without introducing data leakage.</a:t>
            </a:r>
          </a:p>
          <a:p>
            <a:r>
              <a:rPr lang="en-US" dirty="0"/>
              <a:t>The risk dashboard translates model output into actionable CRITICAL/HIGH/MEDIUM/LOW tiers.</a:t>
            </a:r>
          </a:p>
          <a:p>
            <a:r>
              <a:rPr lang="en-US" dirty="0"/>
              <a:t>5 of 15 test wells were correctly flagged CRITICAL, enabling prioritised maintenance planning.</a:t>
            </a:r>
          </a:p>
          <a:p>
            <a:r>
              <a:rPr lang="en-US" dirty="0"/>
              <a:t>Future work: incorporate real-time streaming data and test XGBoost / LSTM for comparison.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4393</TotalTime>
  <Words>820</Words>
  <Application>Microsoft Office PowerPoint</Application>
  <PresentationFormat>Widescreen</PresentationFormat>
  <Paragraphs>75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ESP Well Failure Prediction </vt:lpstr>
      <vt:lpstr>Introduction</vt:lpstr>
      <vt:lpstr>Data Description</vt:lpstr>
      <vt:lpstr>Data Pre-Processing</vt:lpstr>
      <vt:lpstr>Sensor Trends Before Failure</vt:lpstr>
      <vt:lpstr>Methodology</vt:lpstr>
      <vt:lpstr>Results — Classification Performance</vt:lpstr>
      <vt:lpstr>Results — What Drives Failure?</vt:lpstr>
      <vt:lpstr>Results — 30-Day Risk Dashboard (Test Wells)</vt:lpstr>
      <vt:lpstr>Conclusions</vt:lpstr>
    </vt:vector>
  </TitlesOfParts>
  <Company>Society of Petroleum Engineers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Alyssa Moreno</dc:creator>
  <cp:lastModifiedBy>Chinowaita, Regnold</cp:lastModifiedBy>
  <cp:revision>332</cp:revision>
  <dcterms:created xsi:type="dcterms:W3CDTF">2015-05-14T16:01:47Z</dcterms:created>
  <dcterms:modified xsi:type="dcterms:W3CDTF">2026-04-28T18:43:26Z</dcterms:modified>
</cp:coreProperties>
</file>